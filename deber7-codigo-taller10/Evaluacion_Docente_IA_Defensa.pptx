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Buenos días. Mi proyecto aborda la optimización de la evaluación docente mediante el uso de Python e Inteligencia Artificial. El objetivo central es transformar un registro manual de actividades en un informe estructurado y analítico de forma automática.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Actualmente, consolidar el trabajo de un docente implica revisar manualmente múltiples actividades. El objetivo de este sistema es automatizar esa recopilación y procesamiento, generando valoraciones en segundos y reduciendo el error humano.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Elegí Python por su robustez en el tratamiento de datos y su ecosistema nativo para Inteligencia Artificial. El programa está construido bajo un enfoque modular, facilitando el mantenimiento y la escalabilidad del código.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sistema sigue un flujo lineal estricto: comienza solicitando la identidad del docente, recibe el desglose de sus actividades, procesa la información mediante reglas de negocio e IA, y finalmente entrega un reporte final.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implementación utilicé conceptos clave de programación: ciclos para iterar sobre N actividades registradas, condicionales para bifurcar la lógica según las entradas, y funciones para mantener un código limpio y desacoplado.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IA no reemplaza al evaluador, actúa como un asistente. Toma las descripciones redactadas por el docente, las analiza cualitativamente y extrae patrones relevantes. La decisión final siempre requiere supervisión humana.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garantizar la estabilidad del software, implementé un módulo de validación. El sistema verifica la presencia y calidad de los datos antes de enviarlos a procesamiento, evitando ejecuciones con información incompleta.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resultado no es un simple puntaje, sino un informe cualitativo que destaca fortalezas, señala oportunidades de mejora y ofrece una síntesis clara del desempeño del docente.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desarrollo demuestra cómo la tecnología puede aliviar la carga administrativa en las instituciones educativas, permitiendo que el tiempo ahorrado se reinvierta en la mejora de la calidad enseñanza.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conclusión, el proyecto integró de manera práctica la lógica en Python con la capacidad analítica de la IA. Se logró un prototipo funcional que sienta las bases para futuras mejoras, como la integración de una interfaz gráfica o bases de datos relacionales. Muchas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1097280"/>
            <a:ext cx="10362895" cy="365760"/>
          </a:xfrm>
          <a:prstGeom prst="rect">
            <a:avLst/>
          </a:prstGeom>
          <a:noFill/>
        </p:spPr>
        <p:txBody>
          <a:bodyPr wrap="none">
            <a:spAutoFit/>
          </a:bodyPr>
          <a:lstStyle/>
          <a:p>
            <a:pPr>
              <a:defRPr sz="1200" b="1">
                <a:solidFill>
                  <a:srgbClr val="0D9488"/>
                </a:solidFill>
              </a:defRPr>
            </a:pPr>
            <a:r>
              <a:t>DEFENSA DE PROYECTO DE AULA</a:t>
            </a:r>
          </a:p>
        </p:txBody>
      </p:sp>
      <p:sp>
        <p:nvSpPr>
          <p:cNvPr id="3" name="TextBox 2"/>
          <p:cNvSpPr txBox="1"/>
          <p:nvPr/>
        </p:nvSpPr>
        <p:spPr>
          <a:xfrm>
            <a:off x="914400" y="1463040"/>
            <a:ext cx="10362895" cy="1371600"/>
          </a:xfrm>
          <a:prstGeom prst="rect">
            <a:avLst/>
          </a:prstGeom>
          <a:noFill/>
        </p:spPr>
        <p:txBody>
          <a:bodyPr wrap="square">
            <a:spAutoFit/>
          </a:bodyPr>
          <a:lstStyle/>
          <a:p>
            <a:pPr>
              <a:defRPr sz="3600" b="1">
                <a:solidFill>
                  <a:srgbClr val="FFFFFF"/>
                </a:solidFill>
              </a:defRPr>
            </a:pPr>
            <a:r>
              <a:t>Sistema de Evaluación Docente</a:t>
            </a:r>
            <a:br/>
            <a:r>
              <a:t>con Inteligencia Artificial</a:t>
            </a:r>
          </a:p>
        </p:txBody>
      </p:sp>
      <p:sp>
        <p:nvSpPr>
          <p:cNvPr id="4" name="Rounded Rectangle 3"/>
          <p:cNvSpPr/>
          <p:nvPr/>
        </p:nvSpPr>
        <p:spPr>
          <a:xfrm>
            <a:off x="914400" y="3840480"/>
            <a:ext cx="32004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4069080"/>
            <a:ext cx="2743200" cy="1554480"/>
          </a:xfrm>
          <a:prstGeom prst="rect">
            <a:avLst/>
          </a:prstGeom>
          <a:noFill/>
        </p:spPr>
        <p:txBody>
          <a:bodyPr wrap="square">
            <a:spAutoFit/>
          </a:bodyPr>
          <a:lstStyle/>
          <a:p>
            <a:pPr>
              <a:spcAft>
                <a:spcPts val="800"/>
              </a:spcAft>
              <a:defRPr sz="1600" b="1">
                <a:solidFill>
                  <a:srgbClr val="0D9488"/>
                </a:solidFill>
              </a:defRPr>
            </a:pPr>
            <a:r>
              <a:t>Transformación Digital</a:t>
            </a:r>
          </a:p>
          <a:p>
            <a:pPr>
              <a:defRPr sz="1300">
                <a:solidFill>
                  <a:srgbClr val="CBD5E1"/>
                </a:solidFill>
              </a:defRPr>
            </a:pPr>
            <a:r>
              <a:t>Automatización de procesos de evaluación educativa mediante software.</a:t>
            </a:r>
          </a:p>
        </p:txBody>
      </p:sp>
      <p:sp>
        <p:nvSpPr>
          <p:cNvPr id="6" name="Rounded Rectangle 5"/>
          <p:cNvSpPr/>
          <p:nvPr/>
        </p:nvSpPr>
        <p:spPr>
          <a:xfrm>
            <a:off x="4480560" y="3840480"/>
            <a:ext cx="32004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09160" y="4069080"/>
            <a:ext cx="2743200" cy="1554480"/>
          </a:xfrm>
          <a:prstGeom prst="rect">
            <a:avLst/>
          </a:prstGeom>
          <a:noFill/>
        </p:spPr>
        <p:txBody>
          <a:bodyPr wrap="square">
            <a:spAutoFit/>
          </a:bodyPr>
          <a:lstStyle/>
          <a:p>
            <a:pPr>
              <a:spcAft>
                <a:spcPts val="800"/>
              </a:spcAft>
              <a:defRPr sz="1600" b="1">
                <a:solidFill>
                  <a:srgbClr val="0D9488"/>
                </a:solidFill>
              </a:defRPr>
            </a:pPr>
            <a:r>
              <a:t>Análisis de Evidencias</a:t>
            </a:r>
          </a:p>
          <a:p>
            <a:pPr>
              <a:defRPr sz="1300">
                <a:solidFill>
                  <a:srgbClr val="CBD5E1"/>
                </a:solidFill>
              </a:defRPr>
            </a:pPr>
            <a:r>
              <a:t>Organización, estructuración e interpretación de la actividad docente.</a:t>
            </a:r>
          </a:p>
        </p:txBody>
      </p:sp>
      <p:sp>
        <p:nvSpPr>
          <p:cNvPr id="8" name="Rounded Rectangle 7"/>
          <p:cNvSpPr/>
          <p:nvPr/>
        </p:nvSpPr>
        <p:spPr>
          <a:xfrm>
            <a:off x="8046720" y="3840480"/>
            <a:ext cx="320040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4069080"/>
            <a:ext cx="2743200" cy="1554480"/>
          </a:xfrm>
          <a:prstGeom prst="rect">
            <a:avLst/>
          </a:prstGeom>
          <a:noFill/>
        </p:spPr>
        <p:txBody>
          <a:bodyPr wrap="square">
            <a:spAutoFit/>
          </a:bodyPr>
          <a:lstStyle/>
          <a:p>
            <a:pPr>
              <a:spcAft>
                <a:spcPts val="800"/>
              </a:spcAft>
              <a:defRPr sz="1600" b="1">
                <a:solidFill>
                  <a:srgbClr val="0D9488"/>
                </a:solidFill>
              </a:defRPr>
            </a:pPr>
            <a:r>
              <a:t>Desarrollo en Python</a:t>
            </a:r>
          </a:p>
          <a:p>
            <a:pPr>
              <a:defRPr sz="1300">
                <a:solidFill>
                  <a:srgbClr val="CBD5E1"/>
                </a:solidFill>
              </a:defRPr>
            </a:pPr>
            <a:r>
              <a:t>Implementación modular con inteligencia artificial como motor de análisis.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lIns="0" rIns="0" tIns="0" bIns="0">
            <a:spAutoFit/>
          </a:bodyPr>
          <a:lstStyle/>
          <a:p>
            <a:pPr>
              <a:defRPr sz="1100" b="1">
                <a:solidFill>
                  <a:srgbClr val="2563EB"/>
                </a:solidFill>
                <a:latin typeface="Calibri"/>
              </a:defRPr>
            </a:pPr>
            <a:r>
              <a:t>CONTEXTO Y METAS</a:t>
            </a:r>
          </a:p>
        </p:txBody>
      </p:sp>
      <p:sp>
        <p:nvSpPr>
          <p:cNvPr id="3" name="TextBox 2"/>
          <p:cNvSpPr txBox="1"/>
          <p:nvPr/>
        </p:nvSpPr>
        <p:spPr>
          <a:xfrm>
            <a:off x="731520" y="777240"/>
            <a:ext cx="10728655" cy="731520"/>
          </a:xfrm>
          <a:prstGeom prst="rect">
            <a:avLst/>
          </a:prstGeom>
          <a:noFill/>
        </p:spPr>
        <p:txBody>
          <a:bodyPr wrap="square" lIns="0" rIns="0" tIns="0" bIns="0">
            <a:spAutoFit/>
          </a:bodyPr>
          <a:lstStyle/>
          <a:p>
            <a:pPr>
              <a:defRPr sz="2600" b="1">
                <a:solidFill>
                  <a:srgbClr val="1E293B"/>
                </a:solidFill>
                <a:latin typeface="Calibri"/>
              </a:defRPr>
            </a:pPr>
            <a:r>
              <a:t>Planteamiento del Problema y Objetivos</a:t>
            </a:r>
          </a:p>
        </p:txBody>
      </p:sp>
      <p:sp>
        <p:nvSpPr>
          <p:cNvPr id="4" name="Rounded Rectangle 3"/>
          <p:cNvSpPr/>
          <p:nvPr/>
        </p:nvSpPr>
        <p:spPr>
          <a:xfrm>
            <a:off x="914400" y="2011680"/>
            <a:ext cx="320040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2011680"/>
            <a:ext cx="3200400" cy="109728"/>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377440"/>
            <a:ext cx="2651760" cy="3291840"/>
          </a:xfrm>
          <a:prstGeom prst="rect">
            <a:avLst/>
          </a:prstGeom>
          <a:noFill/>
        </p:spPr>
        <p:txBody>
          <a:bodyPr wrap="square">
            <a:spAutoFit/>
          </a:bodyPr>
          <a:lstStyle/>
          <a:p>
            <a:pPr>
              <a:spcAft>
                <a:spcPts val="1400"/>
              </a:spcAft>
              <a:defRPr sz="1500" b="1">
                <a:solidFill>
                  <a:srgbClr val="E11D48"/>
                </a:solidFill>
              </a:defRPr>
            </a:pPr>
            <a:r>
              <a:t>PROBLEMA ACTUAL</a:t>
            </a:r>
          </a:p>
          <a:p>
            <a:pPr>
              <a:defRPr sz="1400">
                <a:solidFill>
                  <a:srgbClr val="1E293B"/>
                </a:solidFill>
              </a:defRPr>
            </a:pPr>
            <a:r>
              <a:t>Procesamiento manual de información, alto consumo de tiempo administrativo e inconsistencia en los criterios de valoración.</a:t>
            </a:r>
          </a:p>
        </p:txBody>
      </p:sp>
      <p:sp>
        <p:nvSpPr>
          <p:cNvPr id="7" name="Rounded Rectangle 6"/>
          <p:cNvSpPr/>
          <p:nvPr/>
        </p:nvSpPr>
        <p:spPr>
          <a:xfrm>
            <a:off x="4480560" y="2011680"/>
            <a:ext cx="320040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0560" y="2011680"/>
            <a:ext cx="320040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2377440"/>
            <a:ext cx="2651760" cy="3291840"/>
          </a:xfrm>
          <a:prstGeom prst="rect">
            <a:avLst/>
          </a:prstGeom>
          <a:noFill/>
        </p:spPr>
        <p:txBody>
          <a:bodyPr wrap="square">
            <a:spAutoFit/>
          </a:bodyPr>
          <a:lstStyle/>
          <a:p>
            <a:pPr>
              <a:spcAft>
                <a:spcPts val="1400"/>
              </a:spcAft>
              <a:defRPr sz="1500" b="1">
                <a:solidFill>
                  <a:srgbClr val="2563EB"/>
                </a:solidFill>
              </a:defRPr>
            </a:pPr>
            <a:r>
              <a:t>SOLUCIÓN PROPUESTA</a:t>
            </a:r>
          </a:p>
          <a:p>
            <a:pPr>
              <a:defRPr sz="1400">
                <a:solidFill>
                  <a:srgbClr val="1E293B"/>
                </a:solidFill>
              </a:defRPr>
            </a:pPr>
            <a:r>
              <a:t>Automatización integral del flujo de recepción, estructuración y análisis de datos mediante un script inteligente.</a:t>
            </a:r>
          </a:p>
        </p:txBody>
      </p:sp>
      <p:sp>
        <p:nvSpPr>
          <p:cNvPr id="10" name="Rounded Rectangle 9"/>
          <p:cNvSpPr/>
          <p:nvPr/>
        </p:nvSpPr>
        <p:spPr>
          <a:xfrm>
            <a:off x="8046720" y="2011680"/>
            <a:ext cx="320040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46720" y="2011680"/>
            <a:ext cx="3200400" cy="10972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2377440"/>
            <a:ext cx="2651760" cy="3291840"/>
          </a:xfrm>
          <a:prstGeom prst="rect">
            <a:avLst/>
          </a:prstGeom>
          <a:noFill/>
        </p:spPr>
        <p:txBody>
          <a:bodyPr wrap="square">
            <a:spAutoFit/>
          </a:bodyPr>
          <a:lstStyle/>
          <a:p>
            <a:pPr>
              <a:spcAft>
                <a:spcPts val="1400"/>
              </a:spcAft>
              <a:defRPr sz="1500" b="1">
                <a:solidFill>
                  <a:srgbClr val="0D9488"/>
                </a:solidFill>
              </a:defRPr>
            </a:pPr>
            <a:r>
              <a:t>META DEL PROYECTO</a:t>
            </a:r>
          </a:p>
          <a:p>
            <a:pPr>
              <a:defRPr sz="1400">
                <a:solidFill>
                  <a:srgbClr val="1E293B"/>
                </a:solidFill>
              </a:defRPr>
            </a:pPr>
            <a:r>
              <a:t>Reducir la carga operativa, eliminar sesgos manuales y estructurar resultados cualitativos de manera rápida y confiable.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lIns="0" rIns="0" tIns="0" bIns="0">
            <a:spAutoFit/>
          </a:bodyPr>
          <a:lstStyle/>
          <a:p>
            <a:pPr>
              <a:defRPr sz="1100" b="1">
                <a:solidFill>
                  <a:srgbClr val="2563EB"/>
                </a:solidFill>
                <a:latin typeface="Calibri"/>
              </a:defRPr>
            </a:pPr>
            <a:r>
              <a:t>TECNOLOGÍA Y DISEÑO</a:t>
            </a:r>
          </a:p>
        </p:txBody>
      </p:sp>
      <p:sp>
        <p:nvSpPr>
          <p:cNvPr id="3" name="TextBox 2"/>
          <p:cNvSpPr txBox="1"/>
          <p:nvPr/>
        </p:nvSpPr>
        <p:spPr>
          <a:xfrm>
            <a:off x="731520" y="777240"/>
            <a:ext cx="10728655" cy="731520"/>
          </a:xfrm>
          <a:prstGeom prst="rect">
            <a:avLst/>
          </a:prstGeom>
          <a:noFill/>
        </p:spPr>
        <p:txBody>
          <a:bodyPr wrap="square" lIns="0" rIns="0" tIns="0" bIns="0">
            <a:spAutoFit/>
          </a:bodyPr>
          <a:lstStyle/>
          <a:p>
            <a:pPr>
              <a:defRPr sz="2600" b="1">
                <a:solidFill>
                  <a:srgbClr val="1E293B"/>
                </a:solidFill>
                <a:latin typeface="Calibri"/>
              </a:defRPr>
            </a:pPr>
            <a:r>
              <a:t>Arquitectura Tecnológica en Python</a:t>
            </a:r>
          </a:p>
        </p:txBody>
      </p:sp>
      <p:sp>
        <p:nvSpPr>
          <p:cNvPr id="4" name="Rounded Rectangle 3"/>
          <p:cNvSpPr/>
          <p:nvPr/>
        </p:nvSpPr>
        <p:spPr>
          <a:xfrm>
            <a:off x="731520" y="2011680"/>
            <a:ext cx="3474720" cy="4114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286000"/>
            <a:ext cx="2926080" cy="3566160"/>
          </a:xfrm>
          <a:prstGeom prst="rect">
            <a:avLst/>
          </a:prstGeom>
          <a:noFill/>
        </p:spPr>
        <p:txBody>
          <a:bodyPr wrap="square">
            <a:spAutoFit/>
          </a:bodyPr>
          <a:lstStyle/>
          <a:p>
            <a:pPr>
              <a:spcAft>
                <a:spcPts val="1200"/>
              </a:spcAft>
              <a:defRPr sz="2800" b="1">
                <a:solidFill>
                  <a:srgbClr val="FFFFFF"/>
                </a:solidFill>
              </a:defRPr>
            </a:pPr>
            <a:r>
              <a:t>PYTHON</a:t>
            </a:r>
          </a:p>
          <a:p>
            <a:pPr>
              <a:defRPr sz="1400">
                <a:solidFill>
                  <a:srgbClr val="E2E8F0"/>
                </a:solidFill>
              </a:defRPr>
            </a:pPr>
            <a:r>
              <a:t>Lenguaje base seleccionado por su flexibilidad, amplio soporte en análisis de datos y facilidades de integración con IA.</a:t>
            </a:r>
          </a:p>
        </p:txBody>
      </p:sp>
      <p:sp>
        <p:nvSpPr>
          <p:cNvPr id="6" name="Rounded Rectangle 5"/>
          <p:cNvSpPr/>
          <p:nvPr/>
        </p:nvSpPr>
        <p:spPr>
          <a:xfrm>
            <a:off x="4480560" y="2011680"/>
            <a:ext cx="694944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2148840"/>
            <a:ext cx="6400800" cy="868680"/>
          </a:xfrm>
          <a:prstGeom prst="rect">
            <a:avLst/>
          </a:prstGeom>
          <a:noFill/>
        </p:spPr>
        <p:txBody>
          <a:bodyPr wrap="square">
            <a:spAutoFit/>
          </a:bodyPr>
          <a:lstStyle/>
          <a:p>
            <a:pPr>
              <a:spcAft>
                <a:spcPts val="400"/>
              </a:spcAft>
              <a:defRPr sz="1500" b="1">
                <a:solidFill>
                  <a:srgbClr val="2563EB"/>
                </a:solidFill>
              </a:defRPr>
            </a:pPr>
            <a:r>
              <a:t>Manejo Eficiente de Datos</a:t>
            </a:r>
          </a:p>
          <a:p>
            <a:pPr>
              <a:defRPr sz="1300">
                <a:solidFill>
                  <a:srgbClr val="1E293B"/>
                </a:solidFill>
              </a:defRPr>
            </a:pPr>
            <a:r>
              <a:t>Tratamiento estructurado de listas, diccionarios y registros docentes para un procesamiento ágil.</a:t>
            </a:r>
          </a:p>
        </p:txBody>
      </p:sp>
      <p:sp>
        <p:nvSpPr>
          <p:cNvPr id="8" name="Rounded Rectangle 7"/>
          <p:cNvSpPr/>
          <p:nvPr/>
        </p:nvSpPr>
        <p:spPr>
          <a:xfrm>
            <a:off x="4480560" y="3291840"/>
            <a:ext cx="694944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3429000"/>
            <a:ext cx="6400800" cy="868680"/>
          </a:xfrm>
          <a:prstGeom prst="rect">
            <a:avLst/>
          </a:prstGeom>
          <a:noFill/>
        </p:spPr>
        <p:txBody>
          <a:bodyPr wrap="square">
            <a:spAutoFit/>
          </a:bodyPr>
          <a:lstStyle/>
          <a:p>
            <a:pPr>
              <a:spcAft>
                <a:spcPts val="400"/>
              </a:spcAft>
              <a:defRPr sz="1500" b="1">
                <a:solidFill>
                  <a:srgbClr val="2563EB"/>
                </a:solidFill>
              </a:defRPr>
            </a:pPr>
            <a:r>
              <a:t>Integración de Modelos de IA</a:t>
            </a:r>
          </a:p>
          <a:p>
            <a:pPr>
              <a:defRPr sz="1300">
                <a:solidFill>
                  <a:srgbClr val="1E293B"/>
                </a:solidFill>
              </a:defRPr>
            </a:pPr>
            <a:r>
              <a:t>Capacidad nativa para interactuar con APIs y librerías de procesamiento de lenguaje natural (NLP).</a:t>
            </a:r>
          </a:p>
        </p:txBody>
      </p:sp>
      <p:sp>
        <p:nvSpPr>
          <p:cNvPr id="10" name="Rounded Rectangle 9"/>
          <p:cNvSpPr/>
          <p:nvPr/>
        </p:nvSpPr>
        <p:spPr>
          <a:xfrm>
            <a:off x="4480560" y="4572000"/>
            <a:ext cx="6949440" cy="1143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4709160"/>
            <a:ext cx="6400800" cy="868680"/>
          </a:xfrm>
          <a:prstGeom prst="rect">
            <a:avLst/>
          </a:prstGeom>
          <a:noFill/>
        </p:spPr>
        <p:txBody>
          <a:bodyPr wrap="square">
            <a:spAutoFit/>
          </a:bodyPr>
          <a:lstStyle/>
          <a:p>
            <a:pPr>
              <a:spcAft>
                <a:spcPts val="400"/>
              </a:spcAft>
              <a:defRPr sz="1500" b="1">
                <a:solidFill>
                  <a:srgbClr val="2563EB"/>
                </a:solidFill>
              </a:defRPr>
            </a:pPr>
            <a:r>
              <a:t>Estructura Modular</a:t>
            </a:r>
          </a:p>
          <a:p>
            <a:pPr>
              <a:defRPr sz="1300">
                <a:solidFill>
                  <a:srgbClr val="1E293B"/>
                </a:solidFill>
              </a:defRPr>
            </a:pPr>
            <a:r>
              <a:t>Diseño basado en funciones desacopladas que garantizan un código limpio, mantenible y escalable.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lIns="0" rIns="0" tIns="0" bIns="0">
            <a:spAutoFit/>
          </a:bodyPr>
          <a:lstStyle/>
          <a:p>
            <a:pPr>
              <a:defRPr sz="1100" b="1">
                <a:solidFill>
                  <a:srgbClr val="2563EB"/>
                </a:solidFill>
                <a:latin typeface="Calibri"/>
              </a:defRPr>
            </a:pPr>
            <a:r>
              <a:t>PROCESAMIENTO</a:t>
            </a:r>
          </a:p>
        </p:txBody>
      </p:sp>
      <p:sp>
        <p:nvSpPr>
          <p:cNvPr id="3" name="TextBox 2"/>
          <p:cNvSpPr txBox="1"/>
          <p:nvPr/>
        </p:nvSpPr>
        <p:spPr>
          <a:xfrm>
            <a:off x="731520" y="777240"/>
            <a:ext cx="10728655" cy="731520"/>
          </a:xfrm>
          <a:prstGeom prst="rect">
            <a:avLst/>
          </a:prstGeom>
          <a:noFill/>
        </p:spPr>
        <p:txBody>
          <a:bodyPr wrap="square" lIns="0" rIns="0" tIns="0" bIns="0">
            <a:spAutoFit/>
          </a:bodyPr>
          <a:lstStyle/>
          <a:p>
            <a:pPr>
              <a:defRPr sz="2600" b="1">
                <a:solidFill>
                  <a:srgbClr val="1E293B"/>
                </a:solidFill>
                <a:latin typeface="Calibri"/>
              </a:defRPr>
            </a:pPr>
            <a:r>
              <a:t>Flujo de Trabajo del Sistema</a:t>
            </a:r>
          </a:p>
        </p:txBody>
      </p:sp>
      <p:sp>
        <p:nvSpPr>
          <p:cNvPr id="4" name="Rounded Rectangle 3"/>
          <p:cNvSpPr/>
          <p:nvPr/>
        </p:nvSpPr>
        <p:spPr>
          <a:xfrm>
            <a:off x="731520" y="2194560"/>
            <a:ext cx="2468880" cy="3474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194560"/>
            <a:ext cx="2468880" cy="7315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86000"/>
            <a:ext cx="2194560" cy="548640"/>
          </a:xfrm>
          <a:prstGeom prst="rect">
            <a:avLst/>
          </a:prstGeom>
          <a:noFill/>
        </p:spPr>
        <p:txBody>
          <a:bodyPr wrap="none">
            <a:spAutoFit/>
          </a:bodyPr>
          <a:lstStyle/>
          <a:p>
            <a:pPr>
              <a:defRPr sz="1500" b="1">
                <a:solidFill>
                  <a:srgbClr val="FFFFFF"/>
                </a:solidFill>
              </a:defRPr>
            </a:pPr>
            <a:r>
              <a:t>1. Captura</a:t>
            </a:r>
          </a:p>
        </p:txBody>
      </p:sp>
      <p:sp>
        <p:nvSpPr>
          <p:cNvPr id="7" name="TextBox 6"/>
          <p:cNvSpPr txBox="1"/>
          <p:nvPr/>
        </p:nvSpPr>
        <p:spPr>
          <a:xfrm>
            <a:off x="914400" y="3108960"/>
            <a:ext cx="2103120" cy="2286000"/>
          </a:xfrm>
          <a:prstGeom prst="rect">
            <a:avLst/>
          </a:prstGeom>
          <a:noFill/>
        </p:spPr>
        <p:txBody>
          <a:bodyPr wrap="square">
            <a:spAutoFit/>
          </a:bodyPr>
          <a:lstStyle/>
          <a:p>
            <a:pPr>
              <a:defRPr sz="1400">
                <a:solidFill>
                  <a:srgbClr val="1E293B"/>
                </a:solidFill>
              </a:defRPr>
            </a:pPr>
            <a:r>
              <a:t>Registro de datos institucionales y del docente.</a:t>
            </a:r>
          </a:p>
        </p:txBody>
      </p:sp>
      <p:sp>
        <p:nvSpPr>
          <p:cNvPr id="8" name="Right Arrow 7"/>
          <p:cNvSpPr/>
          <p:nvPr/>
        </p:nvSpPr>
        <p:spPr>
          <a:xfrm>
            <a:off x="3246120" y="3657600"/>
            <a:ext cx="182880" cy="27432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474720" y="2194560"/>
            <a:ext cx="2468880" cy="3474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2194560"/>
            <a:ext cx="2468880" cy="7315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2286000"/>
            <a:ext cx="2194560" cy="548640"/>
          </a:xfrm>
          <a:prstGeom prst="rect">
            <a:avLst/>
          </a:prstGeom>
          <a:noFill/>
        </p:spPr>
        <p:txBody>
          <a:bodyPr wrap="none">
            <a:spAutoFit/>
          </a:bodyPr>
          <a:lstStyle/>
          <a:p>
            <a:pPr>
              <a:defRPr sz="1500" b="1">
                <a:solidFill>
                  <a:srgbClr val="FFFFFF"/>
                </a:solidFill>
              </a:defRPr>
            </a:pPr>
            <a:r>
              <a:t>2. Evidencias</a:t>
            </a:r>
          </a:p>
        </p:txBody>
      </p:sp>
      <p:sp>
        <p:nvSpPr>
          <p:cNvPr id="12" name="TextBox 11"/>
          <p:cNvSpPr txBox="1"/>
          <p:nvPr/>
        </p:nvSpPr>
        <p:spPr>
          <a:xfrm>
            <a:off x="3657600" y="3108960"/>
            <a:ext cx="2103120" cy="2286000"/>
          </a:xfrm>
          <a:prstGeom prst="rect">
            <a:avLst/>
          </a:prstGeom>
          <a:noFill/>
        </p:spPr>
        <p:txBody>
          <a:bodyPr wrap="square">
            <a:spAutoFit/>
          </a:bodyPr>
          <a:lstStyle/>
          <a:p>
            <a:pPr>
              <a:defRPr sz="1400">
                <a:solidFill>
                  <a:srgbClr val="1E293B"/>
                </a:solidFill>
              </a:defRPr>
            </a:pPr>
            <a:r>
              <a:t>Ingreso detallado de actividades y descripciones.</a:t>
            </a:r>
          </a:p>
        </p:txBody>
      </p:sp>
      <p:sp>
        <p:nvSpPr>
          <p:cNvPr id="13" name="Right Arrow 12"/>
          <p:cNvSpPr/>
          <p:nvPr/>
        </p:nvSpPr>
        <p:spPr>
          <a:xfrm>
            <a:off x="5989320" y="3657600"/>
            <a:ext cx="182880" cy="27432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2194560"/>
            <a:ext cx="2468880" cy="3474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2194560"/>
            <a:ext cx="2468880"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286000"/>
            <a:ext cx="2194560" cy="548640"/>
          </a:xfrm>
          <a:prstGeom prst="rect">
            <a:avLst/>
          </a:prstGeom>
          <a:noFill/>
        </p:spPr>
        <p:txBody>
          <a:bodyPr wrap="none">
            <a:spAutoFit/>
          </a:bodyPr>
          <a:lstStyle/>
          <a:p>
            <a:pPr>
              <a:defRPr sz="1500" b="1">
                <a:solidFill>
                  <a:srgbClr val="FFFFFF"/>
                </a:solidFill>
              </a:defRPr>
            </a:pPr>
            <a:r>
              <a:t>3. Procesamiento</a:t>
            </a:r>
          </a:p>
        </p:txBody>
      </p:sp>
      <p:sp>
        <p:nvSpPr>
          <p:cNvPr id="17" name="TextBox 16"/>
          <p:cNvSpPr txBox="1"/>
          <p:nvPr/>
        </p:nvSpPr>
        <p:spPr>
          <a:xfrm>
            <a:off x="6400800" y="3108960"/>
            <a:ext cx="2103120" cy="2286000"/>
          </a:xfrm>
          <a:prstGeom prst="rect">
            <a:avLst/>
          </a:prstGeom>
          <a:noFill/>
        </p:spPr>
        <p:txBody>
          <a:bodyPr wrap="square">
            <a:spAutoFit/>
          </a:bodyPr>
          <a:lstStyle/>
          <a:p>
            <a:pPr>
              <a:defRPr sz="1400">
                <a:solidFill>
                  <a:srgbClr val="1E293B"/>
                </a:solidFill>
              </a:defRPr>
            </a:pPr>
            <a:r>
              <a:t>Validación de reglas y análisis mediante IA.</a:t>
            </a:r>
          </a:p>
        </p:txBody>
      </p:sp>
      <p:sp>
        <p:nvSpPr>
          <p:cNvPr id="18" name="Right Arrow 17"/>
          <p:cNvSpPr/>
          <p:nvPr/>
        </p:nvSpPr>
        <p:spPr>
          <a:xfrm>
            <a:off x="8732520" y="3657600"/>
            <a:ext cx="182880" cy="274320"/>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961120" y="2194560"/>
            <a:ext cx="2468880" cy="34747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1120" y="2194560"/>
            <a:ext cx="2468880" cy="73152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2286000"/>
            <a:ext cx="2194560" cy="548640"/>
          </a:xfrm>
          <a:prstGeom prst="rect">
            <a:avLst/>
          </a:prstGeom>
          <a:noFill/>
        </p:spPr>
        <p:txBody>
          <a:bodyPr wrap="none">
            <a:spAutoFit/>
          </a:bodyPr>
          <a:lstStyle/>
          <a:p>
            <a:pPr>
              <a:defRPr sz="1500" b="1">
                <a:solidFill>
                  <a:srgbClr val="FFFFFF"/>
                </a:solidFill>
              </a:defRPr>
            </a:pPr>
            <a:r>
              <a:t>4. Generación</a:t>
            </a:r>
          </a:p>
        </p:txBody>
      </p:sp>
      <p:sp>
        <p:nvSpPr>
          <p:cNvPr id="22" name="TextBox 21"/>
          <p:cNvSpPr txBox="1"/>
          <p:nvPr/>
        </p:nvSpPr>
        <p:spPr>
          <a:xfrm>
            <a:off x="9144000" y="3108960"/>
            <a:ext cx="2103120" cy="2286000"/>
          </a:xfrm>
          <a:prstGeom prst="rect">
            <a:avLst/>
          </a:prstGeom>
          <a:noFill/>
        </p:spPr>
        <p:txBody>
          <a:bodyPr wrap="square">
            <a:spAutoFit/>
          </a:bodyPr>
          <a:lstStyle/>
          <a:p>
            <a:pPr>
              <a:defRPr sz="1400">
                <a:solidFill>
                  <a:srgbClr val="1E293B"/>
                </a:solidFill>
              </a:defRPr>
            </a:pPr>
            <a:r>
              <a:t>Emisión automática de la evaluación final.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lIns="0" rIns="0" tIns="0" bIns="0">
            <a:spAutoFit/>
          </a:bodyPr>
          <a:lstStyle/>
          <a:p>
            <a:pPr>
              <a:defRPr sz="1100" b="1">
                <a:solidFill>
                  <a:srgbClr val="2563EB"/>
                </a:solidFill>
                <a:latin typeface="Calibri"/>
              </a:defRPr>
            </a:pPr>
            <a:r>
              <a:t>LÓGICA DEL PROGRAMA</a:t>
            </a:r>
          </a:p>
        </p:txBody>
      </p:sp>
      <p:sp>
        <p:nvSpPr>
          <p:cNvPr id="3" name="TextBox 2"/>
          <p:cNvSpPr txBox="1"/>
          <p:nvPr/>
        </p:nvSpPr>
        <p:spPr>
          <a:xfrm>
            <a:off x="731520" y="777240"/>
            <a:ext cx="10728655" cy="731520"/>
          </a:xfrm>
          <a:prstGeom prst="rect">
            <a:avLst/>
          </a:prstGeom>
          <a:noFill/>
        </p:spPr>
        <p:txBody>
          <a:bodyPr wrap="square" lIns="0" rIns="0" tIns="0" bIns="0">
            <a:spAutoFit/>
          </a:bodyPr>
          <a:lstStyle/>
          <a:p>
            <a:pPr>
              <a:defRPr sz="2600" b="1">
                <a:solidFill>
                  <a:srgbClr val="1E293B"/>
                </a:solidFill>
                <a:latin typeface="Calibri"/>
              </a:defRPr>
            </a:pPr>
            <a:r>
              <a:t>Fundamentos de Programación Aplicados</a:t>
            </a:r>
          </a:p>
        </p:txBody>
      </p:sp>
      <p:sp>
        <p:nvSpPr>
          <p:cNvPr id="4" name="Rounded Rectangle 3"/>
          <p:cNvSpPr/>
          <p:nvPr/>
        </p:nvSpPr>
        <p:spPr>
          <a:xfrm>
            <a:off x="731520" y="2011680"/>
            <a:ext cx="5212080" cy="1737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011680"/>
            <a:ext cx="109728" cy="1737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4754880" cy="1371600"/>
          </a:xfrm>
          <a:prstGeom prst="rect">
            <a:avLst/>
          </a:prstGeom>
          <a:noFill/>
        </p:spPr>
        <p:txBody>
          <a:bodyPr wrap="square">
            <a:spAutoFit/>
          </a:bodyPr>
          <a:lstStyle/>
          <a:p>
            <a:pPr>
              <a:spcAft>
                <a:spcPts val="600"/>
              </a:spcAft>
              <a:defRPr sz="1600" b="1">
                <a:solidFill>
                  <a:srgbClr val="2563EB"/>
                </a:solidFill>
              </a:defRPr>
            </a:pPr>
            <a:r>
              <a:t>Variables y Estructuras</a:t>
            </a:r>
          </a:p>
          <a:p>
            <a:pPr>
              <a:defRPr sz="1300">
                <a:solidFill>
                  <a:srgbClr val="1E293B"/>
                </a:solidFill>
              </a:defRPr>
            </a:pPr>
            <a:r>
              <a:t>Almacenamiento organizado de datos del docente y listas de evidencias para rápida consulta.</a:t>
            </a:r>
          </a:p>
        </p:txBody>
      </p:sp>
      <p:sp>
        <p:nvSpPr>
          <p:cNvPr id="7" name="Rounded Rectangle 6"/>
          <p:cNvSpPr/>
          <p:nvPr/>
        </p:nvSpPr>
        <p:spPr>
          <a:xfrm>
            <a:off x="6217920" y="2011680"/>
            <a:ext cx="5212080" cy="1737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2011680"/>
            <a:ext cx="109728" cy="1737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194560"/>
            <a:ext cx="4754880" cy="1371600"/>
          </a:xfrm>
          <a:prstGeom prst="rect">
            <a:avLst/>
          </a:prstGeom>
          <a:noFill/>
        </p:spPr>
        <p:txBody>
          <a:bodyPr wrap="square">
            <a:spAutoFit/>
          </a:bodyPr>
          <a:lstStyle/>
          <a:p>
            <a:pPr>
              <a:spcAft>
                <a:spcPts val="600"/>
              </a:spcAft>
              <a:defRPr sz="1600" b="1">
                <a:solidFill>
                  <a:srgbClr val="2563EB"/>
                </a:solidFill>
              </a:defRPr>
            </a:pPr>
            <a:r>
              <a:t>Funciones Modulares</a:t>
            </a:r>
          </a:p>
          <a:p>
            <a:pPr>
              <a:defRPr sz="1300">
                <a:solidFill>
                  <a:srgbClr val="1E293B"/>
                </a:solidFill>
              </a:defRPr>
            </a:pPr>
            <a:r>
              <a:t>División del programa en tareas específicas y reutilizables para garantizar orden y claridad.</a:t>
            </a:r>
          </a:p>
        </p:txBody>
      </p:sp>
      <p:sp>
        <p:nvSpPr>
          <p:cNvPr id="10" name="Rounded Rectangle 9"/>
          <p:cNvSpPr/>
          <p:nvPr/>
        </p:nvSpPr>
        <p:spPr>
          <a:xfrm>
            <a:off x="731520" y="4114800"/>
            <a:ext cx="5212080" cy="1737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114800"/>
            <a:ext cx="109728" cy="1737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297680"/>
            <a:ext cx="4754880" cy="1371600"/>
          </a:xfrm>
          <a:prstGeom prst="rect">
            <a:avLst/>
          </a:prstGeom>
          <a:noFill/>
        </p:spPr>
        <p:txBody>
          <a:bodyPr wrap="square">
            <a:spAutoFit/>
          </a:bodyPr>
          <a:lstStyle/>
          <a:p>
            <a:pPr>
              <a:spcAft>
                <a:spcPts val="600"/>
              </a:spcAft>
              <a:defRPr sz="1600" b="1">
                <a:solidFill>
                  <a:srgbClr val="2563EB"/>
                </a:solidFill>
              </a:defRPr>
            </a:pPr>
            <a:r>
              <a:t>Condicionales (If/Else)</a:t>
            </a:r>
          </a:p>
          <a:p>
            <a:pPr>
              <a:defRPr sz="1300">
                <a:solidFill>
                  <a:srgbClr val="1E293B"/>
                </a:solidFill>
              </a:defRPr>
            </a:pPr>
            <a:r>
              <a:t>Toma de decisiones lógicas para bifurcar el flujo según el tipo de actividad o entrada.</a:t>
            </a:r>
          </a:p>
        </p:txBody>
      </p:sp>
      <p:sp>
        <p:nvSpPr>
          <p:cNvPr id="13" name="Rounded Rectangle 12"/>
          <p:cNvSpPr/>
          <p:nvPr/>
        </p:nvSpPr>
        <p:spPr>
          <a:xfrm>
            <a:off x="6217920" y="4114800"/>
            <a:ext cx="5212080" cy="17373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4114800"/>
            <a:ext cx="109728" cy="1737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4297680"/>
            <a:ext cx="4754880" cy="1371600"/>
          </a:xfrm>
          <a:prstGeom prst="rect">
            <a:avLst/>
          </a:prstGeom>
          <a:noFill/>
        </p:spPr>
        <p:txBody>
          <a:bodyPr wrap="square">
            <a:spAutoFit/>
          </a:bodyPr>
          <a:lstStyle/>
          <a:p>
            <a:pPr>
              <a:spcAft>
                <a:spcPts val="600"/>
              </a:spcAft>
              <a:defRPr sz="1600" b="1">
                <a:solidFill>
                  <a:srgbClr val="2563EB"/>
                </a:solidFill>
              </a:defRPr>
            </a:pPr>
            <a:r>
              <a:t>Ciclos e Iteraciones</a:t>
            </a:r>
          </a:p>
          <a:p>
            <a:pPr>
              <a:defRPr sz="1300">
                <a:solidFill>
                  <a:srgbClr val="1E293B"/>
                </a:solidFill>
              </a:defRPr>
            </a:pPr>
            <a:r>
              <a:t>Procesamiento iterativo continuo cuando el usuario registra múltiples actividades.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lIns="0" rIns="0" tIns="0" bIns="0">
            <a:spAutoFit/>
          </a:bodyPr>
          <a:lstStyle/>
          <a:p>
            <a:pPr>
              <a:defRPr sz="1100" b="1">
                <a:solidFill>
                  <a:srgbClr val="2563EB"/>
                </a:solidFill>
                <a:latin typeface="Calibri"/>
              </a:defRPr>
            </a:pPr>
            <a:r>
              <a:t>INTELIGENCIA ARTIFICIAL</a:t>
            </a:r>
          </a:p>
        </p:txBody>
      </p:sp>
      <p:sp>
        <p:nvSpPr>
          <p:cNvPr id="3" name="TextBox 2"/>
          <p:cNvSpPr txBox="1"/>
          <p:nvPr/>
        </p:nvSpPr>
        <p:spPr>
          <a:xfrm>
            <a:off x="731520" y="777240"/>
            <a:ext cx="10728655" cy="731520"/>
          </a:xfrm>
          <a:prstGeom prst="rect">
            <a:avLst/>
          </a:prstGeom>
          <a:noFill/>
        </p:spPr>
        <p:txBody>
          <a:bodyPr wrap="square" lIns="0" rIns="0" tIns="0" bIns="0">
            <a:spAutoFit/>
          </a:bodyPr>
          <a:lstStyle/>
          <a:p>
            <a:pPr>
              <a:defRPr sz="2600" b="1">
                <a:solidFill>
                  <a:srgbClr val="1E293B"/>
                </a:solidFill>
                <a:latin typeface="Calibri"/>
              </a:defRPr>
            </a:pPr>
            <a:r>
              <a:t>Integración y Rol de la Inteligencia Artificial</a:t>
            </a:r>
          </a:p>
        </p:txBody>
      </p:sp>
      <p:sp>
        <p:nvSpPr>
          <p:cNvPr id="4" name="Rounded Rectangle 3"/>
          <p:cNvSpPr/>
          <p:nvPr/>
        </p:nvSpPr>
        <p:spPr>
          <a:xfrm>
            <a:off x="914400" y="201168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88720" y="2286000"/>
            <a:ext cx="548640" cy="54864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2286000"/>
            <a:ext cx="548640" cy="548640"/>
          </a:xfrm>
          <a:prstGeom prst="rect">
            <a:avLst/>
          </a:prstGeom>
          <a:noFill/>
        </p:spPr>
        <p:txBody>
          <a:bodyPr wrap="none">
            <a:spAutoFit/>
          </a:bodyPr>
          <a:lstStyle/>
          <a:p>
            <a:pPr algn="ctr">
              <a:defRPr sz="1600" b="1">
                <a:solidFill>
                  <a:srgbClr val="FFFFFF"/>
                </a:solidFill>
              </a:defRPr>
            </a:pPr>
            <a:r>
              <a:t>1</a:t>
            </a:r>
          </a:p>
        </p:txBody>
      </p:sp>
      <p:sp>
        <p:nvSpPr>
          <p:cNvPr id="7" name="TextBox 6"/>
          <p:cNvSpPr txBox="1"/>
          <p:nvPr/>
        </p:nvSpPr>
        <p:spPr>
          <a:xfrm>
            <a:off x="1188720" y="3017520"/>
            <a:ext cx="2651760" cy="2743200"/>
          </a:xfrm>
          <a:prstGeom prst="rect">
            <a:avLst/>
          </a:prstGeom>
          <a:noFill/>
        </p:spPr>
        <p:txBody>
          <a:bodyPr wrap="square">
            <a:spAutoFit/>
          </a:bodyPr>
          <a:lstStyle/>
          <a:p>
            <a:pPr>
              <a:spcAft>
                <a:spcPts val="1000"/>
              </a:spcAft>
              <a:defRPr sz="1600" b="1">
                <a:solidFill>
                  <a:srgbClr val="2563EB"/>
                </a:solidFill>
              </a:defRPr>
            </a:pPr>
            <a:r>
              <a:t>Análisis Cualitativo</a:t>
            </a:r>
          </a:p>
          <a:p>
            <a:pPr>
              <a:defRPr sz="1300">
                <a:solidFill>
                  <a:srgbClr val="1E293B"/>
                </a:solidFill>
              </a:defRPr>
            </a:pPr>
            <a:r>
              <a:t>Procesamiento e interpretación de descripciones redactadas para extraer patrones y sintetizar evidencias pedagógicas.</a:t>
            </a:r>
          </a:p>
        </p:txBody>
      </p:sp>
      <p:sp>
        <p:nvSpPr>
          <p:cNvPr id="8" name="Rounded Rectangle 7"/>
          <p:cNvSpPr/>
          <p:nvPr/>
        </p:nvSpPr>
        <p:spPr>
          <a:xfrm>
            <a:off x="4480560" y="201168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54880" y="2286000"/>
            <a:ext cx="548640" cy="54864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2286000"/>
            <a:ext cx="548640" cy="548640"/>
          </a:xfrm>
          <a:prstGeom prst="rect">
            <a:avLst/>
          </a:prstGeom>
          <a:noFill/>
        </p:spPr>
        <p:txBody>
          <a:bodyPr wrap="none">
            <a:spAutoFit/>
          </a:bodyPr>
          <a:lstStyle/>
          <a:p>
            <a:pPr algn="ctr">
              <a:defRPr sz="1600" b="1">
                <a:solidFill>
                  <a:srgbClr val="FFFFFF"/>
                </a:solidFill>
              </a:defRPr>
            </a:pPr>
            <a:r>
              <a:t>2</a:t>
            </a:r>
          </a:p>
        </p:txBody>
      </p:sp>
      <p:sp>
        <p:nvSpPr>
          <p:cNvPr id="11" name="TextBox 10"/>
          <p:cNvSpPr txBox="1"/>
          <p:nvPr/>
        </p:nvSpPr>
        <p:spPr>
          <a:xfrm>
            <a:off x="4754880" y="3017520"/>
            <a:ext cx="2651760" cy="2743200"/>
          </a:xfrm>
          <a:prstGeom prst="rect">
            <a:avLst/>
          </a:prstGeom>
          <a:noFill/>
        </p:spPr>
        <p:txBody>
          <a:bodyPr wrap="square">
            <a:spAutoFit/>
          </a:bodyPr>
          <a:lstStyle/>
          <a:p>
            <a:pPr>
              <a:spcAft>
                <a:spcPts val="1000"/>
              </a:spcAft>
              <a:defRPr sz="1600" b="1">
                <a:solidFill>
                  <a:srgbClr val="0D9488"/>
                </a:solidFill>
              </a:defRPr>
            </a:pPr>
            <a:r>
              <a:t>Soporte a la Decisión</a:t>
            </a:r>
          </a:p>
          <a:p>
            <a:pPr>
              <a:defRPr sz="1300">
                <a:solidFill>
                  <a:srgbClr val="1E293B"/>
                </a:solidFill>
              </a:defRPr>
            </a:pPr>
            <a:r>
              <a:t>Esquema Human-in-the-Loop: la IA actúa como un asistente inteligente que sugiere, sin tomar decisiones autónomas.</a:t>
            </a:r>
          </a:p>
        </p:txBody>
      </p:sp>
      <p:sp>
        <p:nvSpPr>
          <p:cNvPr id="12" name="Rounded Rectangle 11"/>
          <p:cNvSpPr/>
          <p:nvPr/>
        </p:nvSpPr>
        <p:spPr>
          <a:xfrm>
            <a:off x="8046720" y="201168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321040" y="2286000"/>
            <a:ext cx="548640" cy="548640"/>
          </a:xfrm>
          <a:prstGeom prst="ellipse">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286000"/>
            <a:ext cx="548640" cy="548640"/>
          </a:xfrm>
          <a:prstGeom prst="rect">
            <a:avLst/>
          </a:prstGeom>
          <a:noFill/>
        </p:spPr>
        <p:txBody>
          <a:bodyPr wrap="none">
            <a:spAutoFit/>
          </a:bodyPr>
          <a:lstStyle/>
          <a:p>
            <a:pPr algn="ctr">
              <a:defRPr sz="1600" b="1">
                <a:solidFill>
                  <a:srgbClr val="FFFFFF"/>
                </a:solidFill>
              </a:defRPr>
            </a:pPr>
            <a:r>
              <a:t>3</a:t>
            </a:r>
          </a:p>
        </p:txBody>
      </p:sp>
      <p:sp>
        <p:nvSpPr>
          <p:cNvPr id="15" name="TextBox 14"/>
          <p:cNvSpPr txBox="1"/>
          <p:nvPr/>
        </p:nvSpPr>
        <p:spPr>
          <a:xfrm>
            <a:off x="8321040" y="3017520"/>
            <a:ext cx="2651760" cy="2743200"/>
          </a:xfrm>
          <a:prstGeom prst="rect">
            <a:avLst/>
          </a:prstGeom>
          <a:noFill/>
        </p:spPr>
        <p:txBody>
          <a:bodyPr wrap="square">
            <a:spAutoFit/>
          </a:bodyPr>
          <a:lstStyle/>
          <a:p>
            <a:pPr>
              <a:spcAft>
                <a:spcPts val="1000"/>
              </a:spcAft>
              <a:defRPr sz="1600" b="1">
                <a:solidFill>
                  <a:srgbClr val="E11D48"/>
                </a:solidFill>
              </a:defRPr>
            </a:pPr>
            <a:r>
              <a:t>Límite Ético y Control</a:t>
            </a:r>
          </a:p>
          <a:p>
            <a:pPr>
              <a:defRPr sz="1300">
                <a:solidFill>
                  <a:srgbClr val="1E293B"/>
                </a:solidFill>
              </a:defRPr>
            </a:pPr>
            <a:r>
              <a:t>Garantía de supervisión humana obligatoria. El dictamen final y validación siempre corresponden al evaluador.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lIns="0" rIns="0" tIns="0" bIns="0">
            <a:spAutoFit/>
          </a:bodyPr>
          <a:lstStyle/>
          <a:p>
            <a:pPr>
              <a:defRPr sz="1100" b="1">
                <a:solidFill>
                  <a:srgbClr val="2563EB"/>
                </a:solidFill>
                <a:latin typeface="Calibri"/>
              </a:defRPr>
            </a:pPr>
            <a:r>
              <a:t>ROBUSTEZ DE SOFTWARE</a:t>
            </a:r>
          </a:p>
        </p:txBody>
      </p:sp>
      <p:sp>
        <p:nvSpPr>
          <p:cNvPr id="3" name="TextBox 2"/>
          <p:cNvSpPr txBox="1"/>
          <p:nvPr/>
        </p:nvSpPr>
        <p:spPr>
          <a:xfrm>
            <a:off x="731520" y="777240"/>
            <a:ext cx="10728655" cy="731520"/>
          </a:xfrm>
          <a:prstGeom prst="rect">
            <a:avLst/>
          </a:prstGeom>
          <a:noFill/>
        </p:spPr>
        <p:txBody>
          <a:bodyPr wrap="square" lIns="0" rIns="0" tIns="0" bIns="0">
            <a:spAutoFit/>
          </a:bodyPr>
          <a:lstStyle/>
          <a:p>
            <a:pPr>
              <a:defRPr sz="2600" b="1">
                <a:solidFill>
                  <a:srgbClr val="1E293B"/>
                </a:solidFill>
                <a:latin typeface="Calibri"/>
              </a:defRPr>
            </a:pPr>
            <a:r>
              <a:t>Control de Calidad y Validación de Datos</a:t>
            </a:r>
          </a:p>
        </p:txBody>
      </p:sp>
      <p:sp>
        <p:nvSpPr>
          <p:cNvPr id="4" name="Rounded Rectangle 3"/>
          <p:cNvSpPr/>
          <p:nvPr/>
        </p:nvSpPr>
        <p:spPr>
          <a:xfrm>
            <a:off x="1371600" y="2011680"/>
            <a:ext cx="9448495" cy="1097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645920" y="2286000"/>
            <a:ext cx="548640" cy="5486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2286000"/>
            <a:ext cx="548640" cy="548640"/>
          </a:xfrm>
          <a:prstGeom prst="rect">
            <a:avLst/>
          </a:prstGeom>
          <a:noFill/>
        </p:spPr>
        <p:txBody>
          <a:bodyPr wrap="none">
            <a:spAutoFit/>
          </a:bodyPr>
          <a:lstStyle/>
          <a:p>
            <a:pPr algn="ctr">
              <a:defRPr sz="1800" b="1">
                <a:solidFill>
                  <a:srgbClr val="FFFFFF"/>
                </a:solidFill>
              </a:defRPr>
            </a:pPr>
            <a:r>
              <a:t>✓</a:t>
            </a:r>
          </a:p>
        </p:txBody>
      </p:sp>
      <p:sp>
        <p:nvSpPr>
          <p:cNvPr id="7" name="TextBox 6"/>
          <p:cNvSpPr txBox="1"/>
          <p:nvPr/>
        </p:nvSpPr>
        <p:spPr>
          <a:xfrm>
            <a:off x="2377440" y="2148840"/>
            <a:ext cx="8046720" cy="822960"/>
          </a:xfrm>
          <a:prstGeom prst="rect">
            <a:avLst/>
          </a:prstGeom>
          <a:noFill/>
        </p:spPr>
        <p:txBody>
          <a:bodyPr wrap="square">
            <a:spAutoFit/>
          </a:bodyPr>
          <a:lstStyle/>
          <a:p>
            <a:pPr>
              <a:spcAft>
                <a:spcPts val="200"/>
              </a:spcAft>
              <a:defRPr sz="1600" b="1">
                <a:solidFill>
                  <a:srgbClr val="1E293B"/>
                </a:solidFill>
              </a:defRPr>
            </a:pPr>
            <a:r>
              <a:t>Campos Obligatorios</a:t>
            </a:r>
          </a:p>
          <a:p>
            <a:pPr>
              <a:defRPr sz="1300">
                <a:solidFill>
                  <a:srgbClr val="64748B"/>
                </a:solidFill>
              </a:defRPr>
            </a:pPr>
            <a:r>
              <a:t>Verificación estricta de la presencia de información del docente y categorización correcta de actividades.</a:t>
            </a:r>
          </a:p>
        </p:txBody>
      </p:sp>
      <p:sp>
        <p:nvSpPr>
          <p:cNvPr id="8" name="Rounded Rectangle 7"/>
          <p:cNvSpPr/>
          <p:nvPr/>
        </p:nvSpPr>
        <p:spPr>
          <a:xfrm>
            <a:off x="1371600" y="3291840"/>
            <a:ext cx="9448495" cy="1097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645920" y="3566160"/>
            <a:ext cx="548640" cy="5486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3566160"/>
            <a:ext cx="548640" cy="548640"/>
          </a:xfrm>
          <a:prstGeom prst="rect">
            <a:avLst/>
          </a:prstGeom>
          <a:noFill/>
        </p:spPr>
        <p:txBody>
          <a:bodyPr wrap="none">
            <a:spAutoFit/>
          </a:bodyPr>
          <a:lstStyle/>
          <a:p>
            <a:pPr algn="ctr">
              <a:defRPr sz="1800" b="1">
                <a:solidFill>
                  <a:srgbClr val="FFFFFF"/>
                </a:solidFill>
              </a:defRPr>
            </a:pPr>
            <a:r>
              <a:t>✓</a:t>
            </a:r>
          </a:p>
        </p:txBody>
      </p:sp>
      <p:sp>
        <p:nvSpPr>
          <p:cNvPr id="11" name="TextBox 10"/>
          <p:cNvSpPr txBox="1"/>
          <p:nvPr/>
        </p:nvSpPr>
        <p:spPr>
          <a:xfrm>
            <a:off x="2377440" y="3429000"/>
            <a:ext cx="8046720" cy="822960"/>
          </a:xfrm>
          <a:prstGeom prst="rect">
            <a:avLst/>
          </a:prstGeom>
          <a:noFill/>
        </p:spPr>
        <p:txBody>
          <a:bodyPr wrap="square">
            <a:spAutoFit/>
          </a:bodyPr>
          <a:lstStyle/>
          <a:p>
            <a:pPr>
              <a:spcAft>
                <a:spcPts val="200"/>
              </a:spcAft>
              <a:defRPr sz="1600" b="1">
                <a:solidFill>
                  <a:srgbClr val="1E293B"/>
                </a:solidFill>
              </a:defRPr>
            </a:pPr>
            <a:r>
              <a:t>Prevención de Datos Nulos</a:t>
            </a:r>
          </a:p>
          <a:p>
            <a:pPr>
              <a:defRPr sz="1300">
                <a:solidFill>
                  <a:srgbClr val="64748B"/>
                </a:solidFill>
              </a:defRPr>
            </a:pPr>
            <a:r>
              <a:t>Filtros activos para rechazar descripciones vacías o registros incompletos antes del análisis por IA.</a:t>
            </a:r>
          </a:p>
        </p:txBody>
      </p:sp>
      <p:sp>
        <p:nvSpPr>
          <p:cNvPr id="12" name="Rounded Rectangle 11"/>
          <p:cNvSpPr/>
          <p:nvPr/>
        </p:nvSpPr>
        <p:spPr>
          <a:xfrm>
            <a:off x="1371600" y="4572000"/>
            <a:ext cx="9448495" cy="1097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645920" y="4846320"/>
            <a:ext cx="548640" cy="548640"/>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45920" y="4846320"/>
            <a:ext cx="548640" cy="548640"/>
          </a:xfrm>
          <a:prstGeom prst="rect">
            <a:avLst/>
          </a:prstGeom>
          <a:noFill/>
        </p:spPr>
        <p:txBody>
          <a:bodyPr wrap="none">
            <a:spAutoFit/>
          </a:bodyPr>
          <a:lstStyle/>
          <a:p>
            <a:pPr algn="ctr">
              <a:defRPr sz="1800" b="1">
                <a:solidFill>
                  <a:srgbClr val="FFFFFF"/>
                </a:solidFill>
              </a:defRPr>
            </a:pPr>
            <a:r>
              <a:t>✓</a:t>
            </a:r>
          </a:p>
        </p:txBody>
      </p:sp>
      <p:sp>
        <p:nvSpPr>
          <p:cNvPr id="15" name="TextBox 14"/>
          <p:cNvSpPr txBox="1"/>
          <p:nvPr/>
        </p:nvSpPr>
        <p:spPr>
          <a:xfrm>
            <a:off x="2377440" y="4709160"/>
            <a:ext cx="8046720" cy="822960"/>
          </a:xfrm>
          <a:prstGeom prst="rect">
            <a:avLst/>
          </a:prstGeom>
          <a:noFill/>
        </p:spPr>
        <p:txBody>
          <a:bodyPr wrap="square">
            <a:spAutoFit/>
          </a:bodyPr>
          <a:lstStyle/>
          <a:p>
            <a:pPr>
              <a:spcAft>
                <a:spcPts val="200"/>
              </a:spcAft>
              <a:defRPr sz="1600" b="1">
                <a:solidFill>
                  <a:srgbClr val="1E293B"/>
                </a:solidFill>
              </a:defRPr>
            </a:pPr>
            <a:r>
              <a:t>Manejo de Excepciones</a:t>
            </a:r>
          </a:p>
          <a:p>
            <a:pPr>
              <a:defRPr sz="1300">
                <a:solidFill>
                  <a:srgbClr val="64748B"/>
                </a:solidFill>
              </a:defRPr>
            </a:pPr>
            <a:r>
              <a:t>Mecanismos de control para evitar fallos en tiempo de ejecución y asegurar la estabilidad continua del programa.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lIns="0" rIns="0" tIns="0" bIns="0">
            <a:spAutoFit/>
          </a:bodyPr>
          <a:lstStyle/>
          <a:p>
            <a:pPr>
              <a:defRPr sz="1100" b="1">
                <a:solidFill>
                  <a:srgbClr val="2563EB"/>
                </a:solidFill>
                <a:latin typeface="Calibri"/>
              </a:defRPr>
            </a:pPr>
            <a:r>
              <a:t>RESULTADOS DEL SISTEMA</a:t>
            </a:r>
          </a:p>
        </p:txBody>
      </p:sp>
      <p:sp>
        <p:nvSpPr>
          <p:cNvPr id="3" name="TextBox 2"/>
          <p:cNvSpPr txBox="1"/>
          <p:nvPr/>
        </p:nvSpPr>
        <p:spPr>
          <a:xfrm>
            <a:off x="731520" y="777240"/>
            <a:ext cx="10728655" cy="731520"/>
          </a:xfrm>
          <a:prstGeom prst="rect">
            <a:avLst/>
          </a:prstGeom>
          <a:noFill/>
        </p:spPr>
        <p:txBody>
          <a:bodyPr wrap="square" lIns="0" rIns="0" tIns="0" bIns="0">
            <a:spAutoFit/>
          </a:bodyPr>
          <a:lstStyle/>
          <a:p>
            <a:pPr>
              <a:defRPr sz="2600" b="1">
                <a:solidFill>
                  <a:srgbClr val="1E293B"/>
                </a:solidFill>
                <a:latin typeface="Calibri"/>
              </a:defRPr>
            </a:pPr>
            <a:r>
              <a:t>Entregables: Informe de Evaluación Generated</a:t>
            </a:r>
          </a:p>
        </p:txBody>
      </p:sp>
      <p:sp>
        <p:nvSpPr>
          <p:cNvPr id="4" name="Rounded Rectangle 3"/>
          <p:cNvSpPr/>
          <p:nvPr/>
        </p:nvSpPr>
        <p:spPr>
          <a:xfrm>
            <a:off x="914400" y="201168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2011680"/>
            <a:ext cx="3200400"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148840"/>
            <a:ext cx="2834640" cy="640080"/>
          </a:xfrm>
          <a:prstGeom prst="rect">
            <a:avLst/>
          </a:prstGeom>
          <a:noFill/>
        </p:spPr>
        <p:txBody>
          <a:bodyPr wrap="none">
            <a:spAutoFit/>
          </a:bodyPr>
          <a:lstStyle/>
          <a:p>
            <a:pPr>
              <a:defRPr sz="1500" b="1">
                <a:solidFill>
                  <a:srgbClr val="FFFFFF"/>
                </a:solidFill>
              </a:defRPr>
            </a:pPr>
            <a:r>
              <a:t>Fortalezas Automáticas</a:t>
            </a:r>
          </a:p>
        </p:txBody>
      </p:sp>
      <p:sp>
        <p:nvSpPr>
          <p:cNvPr id="7" name="TextBox 6"/>
          <p:cNvSpPr txBox="1"/>
          <p:nvPr/>
        </p:nvSpPr>
        <p:spPr>
          <a:xfrm>
            <a:off x="1188720" y="3200400"/>
            <a:ext cx="2651760" cy="2560320"/>
          </a:xfrm>
          <a:prstGeom prst="rect">
            <a:avLst/>
          </a:prstGeom>
          <a:noFill/>
        </p:spPr>
        <p:txBody>
          <a:bodyPr wrap="square">
            <a:spAutoFit/>
          </a:bodyPr>
          <a:lstStyle/>
          <a:p>
            <a:pPr>
              <a:defRPr sz="1400">
                <a:solidFill>
                  <a:srgbClr val="1E293B"/>
                </a:solidFill>
              </a:defRPr>
            </a:pPr>
            <a:r>
              <a:t>Identificación precisa de los aspectos destacados y logros principales alcanzados en el desempeño docente.</a:t>
            </a:r>
          </a:p>
        </p:txBody>
      </p:sp>
      <p:sp>
        <p:nvSpPr>
          <p:cNvPr id="8" name="Rounded Rectangle 7"/>
          <p:cNvSpPr/>
          <p:nvPr/>
        </p:nvSpPr>
        <p:spPr>
          <a:xfrm>
            <a:off x="4480560" y="201168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480560" y="2011680"/>
            <a:ext cx="3200400" cy="9144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148840"/>
            <a:ext cx="2834640" cy="640080"/>
          </a:xfrm>
          <a:prstGeom prst="rect">
            <a:avLst/>
          </a:prstGeom>
          <a:noFill/>
        </p:spPr>
        <p:txBody>
          <a:bodyPr wrap="none">
            <a:spAutoFit/>
          </a:bodyPr>
          <a:lstStyle/>
          <a:p>
            <a:pPr>
              <a:defRPr sz="1500" b="1">
                <a:solidFill>
                  <a:srgbClr val="FFFFFF"/>
                </a:solidFill>
              </a:defRPr>
            </a:pPr>
            <a:r>
              <a:t>Áreas de Mejora</a:t>
            </a:r>
          </a:p>
        </p:txBody>
      </p:sp>
      <p:sp>
        <p:nvSpPr>
          <p:cNvPr id="11" name="TextBox 10"/>
          <p:cNvSpPr txBox="1"/>
          <p:nvPr/>
        </p:nvSpPr>
        <p:spPr>
          <a:xfrm>
            <a:off x="4754880" y="3200400"/>
            <a:ext cx="2651760" cy="2560320"/>
          </a:xfrm>
          <a:prstGeom prst="rect">
            <a:avLst/>
          </a:prstGeom>
          <a:noFill/>
        </p:spPr>
        <p:txBody>
          <a:bodyPr wrap="square">
            <a:spAutoFit/>
          </a:bodyPr>
          <a:lstStyle/>
          <a:p>
            <a:pPr>
              <a:defRPr sz="1400">
                <a:solidFill>
                  <a:srgbClr val="1E293B"/>
                </a:solidFill>
              </a:defRPr>
            </a:pPr>
            <a:r>
              <a:t>Detección fundamentada de oportunidades de desarrollo pedagógico y sugerencias operativas.</a:t>
            </a:r>
          </a:p>
        </p:txBody>
      </p:sp>
      <p:sp>
        <p:nvSpPr>
          <p:cNvPr id="12" name="Rounded Rectangle 11"/>
          <p:cNvSpPr/>
          <p:nvPr/>
        </p:nvSpPr>
        <p:spPr>
          <a:xfrm>
            <a:off x="8046720" y="2011680"/>
            <a:ext cx="320040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2011680"/>
            <a:ext cx="3200400" cy="9144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2148840"/>
            <a:ext cx="2834640" cy="640080"/>
          </a:xfrm>
          <a:prstGeom prst="rect">
            <a:avLst/>
          </a:prstGeom>
          <a:noFill/>
        </p:spPr>
        <p:txBody>
          <a:bodyPr wrap="none">
            <a:spAutoFit/>
          </a:bodyPr>
          <a:lstStyle/>
          <a:p>
            <a:pPr>
              <a:defRPr sz="1500" b="1">
                <a:solidFill>
                  <a:srgbClr val="FFFFFF"/>
                </a:solidFill>
              </a:defRPr>
            </a:pPr>
            <a:r>
              <a:t>Valoración Estructurada</a:t>
            </a:r>
          </a:p>
        </p:txBody>
      </p:sp>
      <p:sp>
        <p:nvSpPr>
          <p:cNvPr id="15" name="TextBox 14"/>
          <p:cNvSpPr txBox="1"/>
          <p:nvPr/>
        </p:nvSpPr>
        <p:spPr>
          <a:xfrm>
            <a:off x="8321040" y="3200400"/>
            <a:ext cx="2651760" cy="2560320"/>
          </a:xfrm>
          <a:prstGeom prst="rect">
            <a:avLst/>
          </a:prstGeom>
          <a:noFill/>
        </p:spPr>
        <p:txBody>
          <a:bodyPr wrap="square">
            <a:spAutoFit/>
          </a:bodyPr>
          <a:lstStyle/>
          <a:p>
            <a:pPr>
              <a:defRPr sz="1400">
                <a:solidFill>
                  <a:srgbClr val="1E293B"/>
                </a:solidFill>
              </a:defRPr>
            </a:pPr>
            <a:r>
              <a:t>Síntesis ejecutiva final organizada para facilitar la toma de decisiones institucionales rápidas.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lIns="0" rIns="0" tIns="0" bIns="0">
            <a:spAutoFit/>
          </a:bodyPr>
          <a:lstStyle/>
          <a:p>
            <a:pPr>
              <a:defRPr sz="1100" b="1">
                <a:solidFill>
                  <a:srgbClr val="2563EB"/>
                </a:solidFill>
                <a:latin typeface="Calibri"/>
              </a:defRPr>
            </a:pPr>
            <a:r>
              <a:t>IMPACTO INSTITUCIONAL</a:t>
            </a:r>
          </a:p>
        </p:txBody>
      </p:sp>
      <p:sp>
        <p:nvSpPr>
          <p:cNvPr id="3" name="TextBox 2"/>
          <p:cNvSpPr txBox="1"/>
          <p:nvPr/>
        </p:nvSpPr>
        <p:spPr>
          <a:xfrm>
            <a:off x="731520" y="777240"/>
            <a:ext cx="10728655" cy="731520"/>
          </a:xfrm>
          <a:prstGeom prst="rect">
            <a:avLst/>
          </a:prstGeom>
          <a:noFill/>
        </p:spPr>
        <p:txBody>
          <a:bodyPr wrap="square" lIns="0" rIns="0" tIns="0" bIns="0">
            <a:spAutoFit/>
          </a:bodyPr>
          <a:lstStyle/>
          <a:p>
            <a:pPr>
              <a:defRPr sz="2600" b="1">
                <a:solidFill>
                  <a:srgbClr val="1E293B"/>
                </a:solidFill>
                <a:latin typeface="Calibri"/>
              </a:defRPr>
            </a:pPr>
            <a:r>
              <a:t>Valor Proporcionado e Impacto</a:t>
            </a:r>
          </a:p>
        </p:txBody>
      </p:sp>
      <p:sp>
        <p:nvSpPr>
          <p:cNvPr id="4" name="Rounded Rectangle 3"/>
          <p:cNvSpPr/>
          <p:nvPr/>
        </p:nvSpPr>
        <p:spPr>
          <a:xfrm>
            <a:off x="731520" y="2011680"/>
            <a:ext cx="5212080" cy="1828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2240280"/>
            <a:ext cx="4663440" cy="1371600"/>
          </a:xfrm>
          <a:prstGeom prst="rect">
            <a:avLst/>
          </a:prstGeom>
          <a:noFill/>
        </p:spPr>
        <p:txBody>
          <a:bodyPr wrap="square">
            <a:spAutoFit/>
          </a:bodyPr>
          <a:lstStyle/>
          <a:p>
            <a:pPr>
              <a:spcAft>
                <a:spcPts val="600"/>
              </a:spcAft>
              <a:defRPr sz="1600" b="1">
                <a:solidFill>
                  <a:srgbClr val="2563EB"/>
                </a:solidFill>
              </a:defRPr>
            </a:pPr>
            <a:r>
              <a:t>Eficiencia Operativa</a:t>
            </a:r>
          </a:p>
          <a:p>
            <a:pPr>
              <a:defRPr sz="1300">
                <a:solidFill>
                  <a:srgbClr val="1E293B"/>
                </a:solidFill>
              </a:defRPr>
            </a:pPr>
            <a:r>
              <a:t>Ahorro drástico de tiempo administrativo en la recolección, consolidación y revisión de evidencias.</a:t>
            </a:r>
          </a:p>
        </p:txBody>
      </p:sp>
      <p:sp>
        <p:nvSpPr>
          <p:cNvPr id="6" name="Rounded Rectangle 5"/>
          <p:cNvSpPr/>
          <p:nvPr/>
        </p:nvSpPr>
        <p:spPr>
          <a:xfrm>
            <a:off x="6217920" y="2011680"/>
            <a:ext cx="5212080" cy="1828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240280"/>
            <a:ext cx="4663440" cy="1371600"/>
          </a:xfrm>
          <a:prstGeom prst="rect">
            <a:avLst/>
          </a:prstGeom>
          <a:noFill/>
        </p:spPr>
        <p:txBody>
          <a:bodyPr wrap="square">
            <a:spAutoFit/>
          </a:bodyPr>
          <a:lstStyle/>
          <a:p>
            <a:pPr>
              <a:spcAft>
                <a:spcPts val="600"/>
              </a:spcAft>
              <a:defRPr sz="1600" b="1">
                <a:solidFill>
                  <a:srgbClr val="2563EB"/>
                </a:solidFill>
              </a:defRPr>
            </a:pPr>
            <a:r>
              <a:t>Estandarización</a:t>
            </a:r>
          </a:p>
          <a:p>
            <a:pPr>
              <a:defRPr sz="1300">
                <a:solidFill>
                  <a:srgbClr val="1E293B"/>
                </a:solidFill>
              </a:defRPr>
            </a:pPr>
            <a:r>
              <a:t>Aplicación de criterios de análisis uniformes y objetivos en toda la organización educativa.</a:t>
            </a:r>
          </a:p>
        </p:txBody>
      </p:sp>
      <p:sp>
        <p:nvSpPr>
          <p:cNvPr id="8" name="Rounded Rectangle 7"/>
          <p:cNvSpPr/>
          <p:nvPr/>
        </p:nvSpPr>
        <p:spPr>
          <a:xfrm>
            <a:off x="3474720" y="4114800"/>
            <a:ext cx="5212080" cy="18288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40" y="4343400"/>
            <a:ext cx="4663440" cy="1371600"/>
          </a:xfrm>
          <a:prstGeom prst="rect">
            <a:avLst/>
          </a:prstGeom>
          <a:noFill/>
        </p:spPr>
        <p:txBody>
          <a:bodyPr wrap="square">
            <a:spAutoFit/>
          </a:bodyPr>
          <a:lstStyle/>
          <a:p>
            <a:pPr>
              <a:spcAft>
                <a:spcPts val="600"/>
              </a:spcAft>
              <a:defRPr sz="1600" b="1">
                <a:solidFill>
                  <a:srgbClr val="2563EB"/>
                </a:solidFill>
              </a:defRPr>
            </a:pPr>
            <a:r>
              <a:t>Aplicabilidad Práctica</a:t>
            </a:r>
          </a:p>
          <a:p>
            <a:pPr>
              <a:defRPr sz="1300">
                <a:solidFill>
                  <a:srgbClr val="1E293B"/>
                </a:solidFill>
              </a:defRPr>
            </a:pPr>
            <a:r>
              <a:t>Demostración directa de cómo la programación en Python y la IA solucionan necesidades reales.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57200"/>
            <a:ext cx="10728655" cy="365760"/>
          </a:xfrm>
          <a:prstGeom prst="rect">
            <a:avLst/>
          </a:prstGeom>
          <a:noFill/>
        </p:spPr>
        <p:txBody>
          <a:bodyPr wrap="square" lIns="0" rIns="0" tIns="0" bIns="0">
            <a:spAutoFit/>
          </a:bodyPr>
          <a:lstStyle/>
          <a:p>
            <a:pPr>
              <a:defRPr sz="1100" b="1">
                <a:solidFill>
                  <a:srgbClr val="0D9488"/>
                </a:solidFill>
                <a:latin typeface="Calibri"/>
              </a:defRPr>
            </a:pPr>
            <a:r>
              <a:t>CIERRE Y SÍNTESIS</a:t>
            </a:r>
          </a:p>
        </p:txBody>
      </p:sp>
      <p:sp>
        <p:nvSpPr>
          <p:cNvPr id="3" name="TextBox 2"/>
          <p:cNvSpPr txBox="1"/>
          <p:nvPr/>
        </p:nvSpPr>
        <p:spPr>
          <a:xfrm>
            <a:off x="731520" y="777240"/>
            <a:ext cx="10728655" cy="731520"/>
          </a:xfrm>
          <a:prstGeom prst="rect">
            <a:avLst/>
          </a:prstGeom>
          <a:noFill/>
        </p:spPr>
        <p:txBody>
          <a:bodyPr wrap="square" lIns="0" rIns="0" tIns="0" bIns="0">
            <a:spAutoFit/>
          </a:bodyPr>
          <a:lstStyle/>
          <a:p>
            <a:pPr>
              <a:defRPr sz="2600" b="1">
                <a:solidFill>
                  <a:srgbClr val="FFFFFF"/>
                </a:solidFill>
                <a:latin typeface="Calibri"/>
              </a:defRPr>
            </a:pPr>
            <a:r>
              <a:t>Conclusiones del Proyecto</a:t>
            </a:r>
          </a:p>
        </p:txBody>
      </p:sp>
      <p:sp>
        <p:nvSpPr>
          <p:cNvPr id="4" name="Rounded Rectangle 3"/>
          <p:cNvSpPr/>
          <p:nvPr/>
        </p:nvSpPr>
        <p:spPr>
          <a:xfrm>
            <a:off x="914400" y="2011680"/>
            <a:ext cx="320040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286000"/>
            <a:ext cx="2651760" cy="3200400"/>
          </a:xfrm>
          <a:prstGeom prst="rect">
            <a:avLst/>
          </a:prstGeom>
          <a:noFill/>
        </p:spPr>
        <p:txBody>
          <a:bodyPr wrap="square">
            <a:spAutoFit/>
          </a:bodyPr>
          <a:lstStyle/>
          <a:p>
            <a:pPr>
              <a:spcAft>
                <a:spcPts val="1200"/>
              </a:spcAft>
              <a:defRPr sz="1600" b="1">
                <a:solidFill>
                  <a:srgbClr val="0D9488"/>
                </a:solidFill>
              </a:defRPr>
            </a:pPr>
            <a:r>
              <a:t>01. Integración Exitosa</a:t>
            </a:r>
          </a:p>
          <a:p>
            <a:pPr>
              <a:defRPr sz="1300">
                <a:solidFill>
                  <a:srgbClr val="CBD5E1"/>
                </a:solidFill>
              </a:defRPr>
            </a:pPr>
            <a:r>
              <a:t>Demostración práctica de la convergencia entre lógica de programación en Python y modelos cualitativos de IA.</a:t>
            </a:r>
          </a:p>
        </p:txBody>
      </p:sp>
      <p:sp>
        <p:nvSpPr>
          <p:cNvPr id="6" name="Rounded Rectangle 5"/>
          <p:cNvSpPr/>
          <p:nvPr/>
        </p:nvSpPr>
        <p:spPr>
          <a:xfrm>
            <a:off x="4480560" y="2011680"/>
            <a:ext cx="320040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0" y="2286000"/>
            <a:ext cx="2651760" cy="3200400"/>
          </a:xfrm>
          <a:prstGeom prst="rect">
            <a:avLst/>
          </a:prstGeom>
          <a:noFill/>
        </p:spPr>
        <p:txBody>
          <a:bodyPr wrap="square">
            <a:spAutoFit/>
          </a:bodyPr>
          <a:lstStyle/>
          <a:p>
            <a:pPr>
              <a:spcAft>
                <a:spcPts val="1200"/>
              </a:spcAft>
              <a:defRPr sz="1600" b="1">
                <a:solidFill>
                  <a:srgbClr val="0D9488"/>
                </a:solidFill>
              </a:defRPr>
            </a:pPr>
            <a:r>
              <a:t>02. Prototipo Funcional</a:t>
            </a:r>
          </a:p>
          <a:p>
            <a:pPr>
              <a:defRPr sz="1300">
                <a:solidFill>
                  <a:srgbClr val="CBD5E1"/>
                </a:solidFill>
              </a:defRPr>
            </a:pPr>
            <a:r>
              <a:t>Construcción de un software validado, estructurado y modular preparado para tareas de evaluación real.</a:t>
            </a:r>
          </a:p>
        </p:txBody>
      </p:sp>
      <p:sp>
        <p:nvSpPr>
          <p:cNvPr id="8" name="Rounded Rectangle 7"/>
          <p:cNvSpPr/>
          <p:nvPr/>
        </p:nvSpPr>
        <p:spPr>
          <a:xfrm>
            <a:off x="8046720" y="2011680"/>
            <a:ext cx="320040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21040" y="2286000"/>
            <a:ext cx="2651760" cy="3200400"/>
          </a:xfrm>
          <a:prstGeom prst="rect">
            <a:avLst/>
          </a:prstGeom>
          <a:noFill/>
        </p:spPr>
        <p:txBody>
          <a:bodyPr wrap="square">
            <a:spAutoFit/>
          </a:bodyPr>
          <a:lstStyle/>
          <a:p>
            <a:pPr>
              <a:spcAft>
                <a:spcPts val="1200"/>
              </a:spcAft>
              <a:defRPr sz="1600" b="1">
                <a:solidFill>
                  <a:srgbClr val="0D9488"/>
                </a:solidFill>
              </a:defRPr>
            </a:pPr>
            <a:r>
              <a:t>03. Escalabilidad Futura</a:t>
            </a:r>
          </a:p>
          <a:p>
            <a:pPr>
              <a:defRPr sz="1300">
                <a:solidFill>
                  <a:srgbClr val="CBD5E1"/>
                </a:solidFill>
              </a:defRPr>
            </a:pPr>
            <a:r>
              <a:t>Base sólida para incorporar interfaces gráficas (GUI), bases de datos SQL y analíticas avanzadas.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